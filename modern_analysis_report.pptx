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FFFFFF"/>
                </a:solidFill>
                <a:latin typeface="Malgun Gothic"/>
              </a:defRPr>
            </a:pPr>
            <a:r>
              <a:t>Python Email Checker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0BFFF"/>
                </a:solidFill>
                <a:latin typeface="Malgun Gothic"/>
              </a:defRPr>
            </a:pPr>
            <a:r>
              <a:t>시스템 아키텍처 및 코드 분석 보고서</a:t>
            </a:r>
          </a:p>
          <a:p>
            <a:pPr>
              <a:defRPr sz="2400">
                <a:solidFill>
                  <a:srgbClr val="00BFFF"/>
                </a:solidFill>
                <a:latin typeface="Malgun Gothic"/>
              </a:defRPr>
            </a:pPr>
            <a:r>
              <a:t>2026-01-01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5486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1. System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743200" cy="3200400"/>
          </a:xfrm>
          <a:prstGeom prst="roundRect">
            <a:avLst/>
          </a:prstGeom>
          <a:solidFill>
            <a:srgbClr val="2D2D3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800" b="1">
                <a:solidFill>
                  <a:srgbClr val="00BFFF"/>
                </a:solidFill>
                <a:latin typeface="Malgun Gothic"/>
              </a:defRPr>
            </a:pPr>
            <a:r>
              <a:t>Email Monitoring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IMAP 프로토콜 활용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주기적(60s) 실행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읽지 않은 메일 감지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2743200" cy="3200400"/>
          </a:xfrm>
          <a:prstGeom prst="roundRect">
            <a:avLst/>
          </a:prstGeom>
          <a:solidFill>
            <a:srgbClr val="2D2D3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800" b="1">
                <a:solidFill>
                  <a:srgbClr val="00BFFF"/>
                </a:solidFill>
                <a:latin typeface="Malgun Gothic"/>
              </a:defRPr>
            </a:pPr>
            <a:r>
              <a:t>Smart Filtering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날짜 기반 1차 필터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발신자 목록 확인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제목 키워드 매칭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828800"/>
            <a:ext cx="2743200" cy="3200400"/>
          </a:xfrm>
          <a:prstGeom prst="roundRect">
            <a:avLst/>
          </a:prstGeom>
          <a:solidFill>
            <a:srgbClr val="2D2D3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800" b="1">
                <a:solidFill>
                  <a:srgbClr val="00BFFF"/>
                </a:solidFill>
                <a:latin typeface="Malgun Gothic"/>
              </a:defRPr>
            </a:pPr>
            <a:r>
              <a:t>Instant Alert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텔레그램 Bot API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실시간 푸시 알림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전송 결과 로깅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5486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2. Architecture Diagram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101" y="1371600"/>
            <a:ext cx="4293798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25101" y="1371600"/>
            <a:ext cx="4293798" cy="5029200"/>
          </a:xfrm>
          <a:prstGeom prst="rect">
            <a:avLst/>
          </a:prstGeom>
          <a:noFill/>
          <a:ln w="2540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5486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3. Core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114800" cy="2286000"/>
          </a:xfrm>
          <a:prstGeom prst="roundRect">
            <a:avLst/>
          </a:prstGeom>
          <a:solidFill>
            <a:srgbClr val="2D2D3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800" b="1">
                <a:solidFill>
                  <a:srgbClr val="00BFFF"/>
                </a:solidFill>
                <a:latin typeface="Malgun Gothic"/>
              </a:defRPr>
            </a:pPr>
            <a:r>
              <a:t>Main Controller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Entry Point: main.py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스케줄러 관리 및 예외 처리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테스트 모드 지원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4114800" cy="2286000"/>
          </a:xfrm>
          <a:prstGeom prst="roundRect">
            <a:avLst/>
          </a:prstGeom>
          <a:solidFill>
            <a:srgbClr val="2D2D3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800" b="1">
                <a:solidFill>
                  <a:srgbClr val="00BFFF"/>
                </a:solidFill>
                <a:latin typeface="Malgun Gothic"/>
              </a:defRPr>
            </a:pPr>
            <a:r>
              <a:t>Email Checker Filter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Server-side: Date filtering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Client-side: Sender &amp; Keyword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Dual-Layer Filtering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4114800" cy="2286000"/>
          </a:xfrm>
          <a:prstGeom prst="roundRect">
            <a:avLst/>
          </a:prstGeom>
          <a:solidFill>
            <a:srgbClr val="2D2D3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800" b="1">
                <a:solidFill>
                  <a:srgbClr val="00BFFF"/>
                </a:solidFill>
                <a:latin typeface="Malgun Gothic"/>
              </a:defRPr>
            </a:pPr>
            <a:r>
              <a:t>Notifier Service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Requests Library 활용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HTTP POST to Telegram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Time-out 및 에러 핸들링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3840480"/>
            <a:ext cx="4114800" cy="2286000"/>
          </a:xfrm>
          <a:prstGeom prst="roundRect">
            <a:avLst/>
          </a:prstGeom>
          <a:solidFill>
            <a:srgbClr val="2D2D3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1800" b="1">
                <a:solidFill>
                  <a:srgbClr val="00BFFF"/>
                </a:solidFill>
                <a:latin typeface="Malgun Gothic"/>
              </a:defRPr>
            </a:pPr>
            <a:r>
              <a:t>Configuration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Environment Variables (.env)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Secure Credential Management</a:t>
            </a:r>
          </a:p>
          <a:p>
            <a:pPr>
              <a:spcBef>
                <a:spcPts val="600"/>
              </a:spcBef>
              <a:defRPr sz="1400">
                <a:solidFill>
                  <a:srgbClr val="DCDCDC"/>
                </a:solidFill>
                <a:latin typeface="Malgun Gothic"/>
              </a:defRPr>
            </a:pPr>
            <a:r>
              <a:t>• Data Parsing &amp;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54864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4. Data Flow Process</a:t>
            </a:r>
          </a:p>
        </p:txBody>
      </p:sp>
      <p:sp>
        <p:nvSpPr>
          <p:cNvPr id="4" name="Chevron 3"/>
          <p:cNvSpPr/>
          <p:nvPr/>
        </p:nvSpPr>
        <p:spPr>
          <a:xfrm>
            <a:off x="914400" y="1371600"/>
            <a:ext cx="7315200" cy="731520"/>
          </a:xfrm>
          <a:prstGeom prst="chevron">
            <a:avLst/>
          </a:prstGeom>
          <a:solidFill>
            <a:srgbClr val="323237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000">
                <a:solidFill>
                  <a:srgbClr val="FFFFFF"/>
                </a:solidFill>
                <a:latin typeface="Malgun Gothic"/>
              </a:defRPr>
            </a:pPr>
            <a:r>
              <a:t>1. Start &amp; Load Config (.env)</a:t>
            </a:r>
          </a:p>
        </p:txBody>
      </p:sp>
      <p:sp>
        <p:nvSpPr>
          <p:cNvPr id="5" name="Chevron 4"/>
          <p:cNvSpPr/>
          <p:nvPr/>
        </p:nvSpPr>
        <p:spPr>
          <a:xfrm>
            <a:off x="914400" y="2286000"/>
            <a:ext cx="7315200" cy="731520"/>
          </a:xfrm>
          <a:prstGeom prst="chevron">
            <a:avLst/>
          </a:prstGeom>
          <a:solidFill>
            <a:srgbClr val="3C3C41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000">
                <a:solidFill>
                  <a:srgbClr val="FFFFFF"/>
                </a:solidFill>
                <a:latin typeface="Malgun Gothic"/>
              </a:defRPr>
            </a:pPr>
            <a:r>
              <a:t>2. Scheduled Trigger (Every 60s)</a:t>
            </a:r>
          </a:p>
        </p:txBody>
      </p:sp>
      <p:sp>
        <p:nvSpPr>
          <p:cNvPr id="6" name="Chevron 5"/>
          <p:cNvSpPr/>
          <p:nvPr/>
        </p:nvSpPr>
        <p:spPr>
          <a:xfrm>
            <a:off x="914400" y="3200400"/>
            <a:ext cx="7315200" cy="731520"/>
          </a:xfrm>
          <a:prstGeom prst="chevron">
            <a:avLst/>
          </a:prstGeom>
          <a:solidFill>
            <a:srgbClr val="323237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000">
                <a:solidFill>
                  <a:srgbClr val="FFFFFF"/>
                </a:solidFill>
                <a:latin typeface="Malgun Gothic"/>
              </a:defRPr>
            </a:pPr>
            <a:r>
              <a:t>3. Fetch Unseen Emails (IMAP)</a:t>
            </a:r>
          </a:p>
        </p:txBody>
      </p:sp>
      <p:sp>
        <p:nvSpPr>
          <p:cNvPr id="7" name="Chevron 6"/>
          <p:cNvSpPr/>
          <p:nvPr/>
        </p:nvSpPr>
        <p:spPr>
          <a:xfrm>
            <a:off x="914400" y="4114800"/>
            <a:ext cx="7315200" cy="731520"/>
          </a:xfrm>
          <a:prstGeom prst="chevron">
            <a:avLst/>
          </a:prstGeom>
          <a:solidFill>
            <a:srgbClr val="3C3C41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000">
                <a:solidFill>
                  <a:srgbClr val="FFFFFF"/>
                </a:solidFill>
                <a:latin typeface="Malgun Gothic"/>
              </a:defRPr>
            </a:pPr>
            <a:r>
              <a:t>4. Apply Custom Filters (Date/Sender/Key)</a:t>
            </a:r>
          </a:p>
        </p:txBody>
      </p:sp>
      <p:sp>
        <p:nvSpPr>
          <p:cNvPr id="8" name="Chevron 7"/>
          <p:cNvSpPr/>
          <p:nvPr/>
        </p:nvSpPr>
        <p:spPr>
          <a:xfrm>
            <a:off x="914400" y="5029200"/>
            <a:ext cx="7315200" cy="731520"/>
          </a:xfrm>
          <a:prstGeom prst="chevron">
            <a:avLst/>
          </a:prstGeom>
          <a:solidFill>
            <a:srgbClr val="323237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000">
                <a:solidFill>
                  <a:srgbClr val="FFFFFF"/>
                </a:solidFill>
                <a:latin typeface="Malgun Gothic"/>
              </a:defRPr>
            </a:pPr>
            <a:r>
              <a:t>5. Push Notification (Telegram API)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