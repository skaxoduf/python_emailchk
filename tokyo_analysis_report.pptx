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-914400" y="3657600"/>
            <a:ext cx="3657600" cy="3657600"/>
          </a:xfrm>
          <a:prstGeom prst="triangle">
            <a:avLst/>
          </a:prstGeom>
          <a:solidFill>
            <a:srgbClr val="24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7AA2F7"/>
                </a:solidFill>
                <a:latin typeface="Malgun Gothic"/>
              </a:defRPr>
            </a:pPr>
            <a:r>
              <a:t>Python Email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B9AF7"/>
                </a:solidFill>
                <a:latin typeface="Malgun Gothic"/>
              </a:defRPr>
            </a:pPr>
            <a:r>
              <a:t>이메일 업무 자동화 시스템 구조 분석</a:t>
            </a:r>
            <a:br/>
            <a:r>
              <a:t>2026-01-01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AA2F7"/>
                </a:solidFill>
                <a:latin typeface="Malgun Gothic"/>
              </a:defRPr>
            </a:pPr>
            <a:r>
              <a:t>1. 시스템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32004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이메일 모니터링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IMAP 프로토콜 활용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60초 주기 자동 감지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읽지 않은 메일 수집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743200" cy="32004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지능형 필터링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설정된 날짜 이후만 감지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발신자 목록 대조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제목 키워드 검색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2743200" cy="32004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실시간 알림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텔레그램 Bot API 연동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즉각적인 푸시 알림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처리 결과 로깅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AA2F7"/>
                </a:solidFill>
                <a:latin typeface="Malgun Gothic"/>
              </a:defRPr>
            </a:pPr>
            <a:r>
              <a:t>2. 아키텍처 다이어그램</a:t>
            </a:r>
          </a:p>
        </p:txBody>
      </p:sp>
      <p:pic>
        <p:nvPicPr>
          <p:cNvPr id="3" name="Picture 2" descr="tokyo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01" y="1371600"/>
            <a:ext cx="4293798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25101" y="1371600"/>
            <a:ext cx="4293798" cy="5029200"/>
          </a:xfrm>
          <a:prstGeom prst="rect">
            <a:avLst/>
          </a:prstGeom>
          <a:noFill/>
          <a:ln w="2540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AA2F7"/>
                </a:solidFill>
                <a:latin typeface="Malgun Gothic"/>
              </a:defRPr>
            </a:pPr>
            <a:r>
              <a:t>3. 핵심 컴포넌트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메인 컨트롤러 (Main)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진입점(Entry Point): main.py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스케줄러 작업 관리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테스트 모드 (--test) 지원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4114800" cy="22860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체크 &amp; 필터 (Checker)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서버 측 필터: 날짜 조건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클라이언트 필터: 발신자/키워드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중복 처리 방지 (UID)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4114800" cy="22860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알림 서비스 (Notifier)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Requests 라이브러리 사용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HTTP POST 요청 전송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예외 처리 및 로깅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840480"/>
            <a:ext cx="4114800" cy="2286000"/>
          </a:xfrm>
          <a:prstGeom prst="roundRect">
            <a:avLst/>
          </a:prstGeom>
          <a:solidFill>
            <a:srgbClr val="24283B"/>
          </a:solidFill>
          <a:ln>
            <a:solidFill>
              <a:srgbClr val="41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7AA2F7"/>
                </a:solidFill>
                <a:latin typeface="Malgun Gothic"/>
              </a:defRPr>
            </a:pPr>
            <a:r>
              <a:t>환경 설정 (Config)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.env 파일 로드 (보안)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설정값 전처리 (List 변환)</a:t>
            </a:r>
          </a:p>
          <a:p>
            <a:pPr>
              <a:spcBef>
                <a:spcPts val="600"/>
              </a:spcBef>
              <a:defRPr sz="1400">
                <a:solidFill>
                  <a:srgbClr val="C0CAF5"/>
                </a:solidFill>
                <a:latin typeface="Malgun Gothic"/>
              </a:defRPr>
            </a:pPr>
            <a:r>
              <a:t>• 중앙 집중식 관리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AA2F7"/>
                </a:solidFill>
                <a:latin typeface="Malgun Gothic"/>
              </a:defRPr>
            </a:pPr>
            <a:r>
              <a:t>4. 데이터 흐름 (Data Flow)</a:t>
            </a:r>
          </a:p>
        </p:txBody>
      </p:sp>
      <p:sp>
        <p:nvSpPr>
          <p:cNvPr id="3" name="Chevron 2"/>
          <p:cNvSpPr/>
          <p:nvPr/>
        </p:nvSpPr>
        <p:spPr>
          <a:xfrm>
            <a:off x="914400" y="1371600"/>
            <a:ext cx="7315200" cy="731520"/>
          </a:xfrm>
          <a:prstGeom prst="chevron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1800">
                <a:solidFill>
                  <a:srgbClr val="C0CAF5"/>
                </a:solidFill>
                <a:latin typeface="Malgun Gothic"/>
              </a:defRPr>
            </a:pPr>
            <a:r>
              <a:t>1. 설정 로드: .env 파일 및 환경변수 초기화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286000"/>
            <a:ext cx="7315200" cy="731520"/>
          </a:xfrm>
          <a:prstGeom prst="chevron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1800">
                <a:solidFill>
                  <a:srgbClr val="C0CAF5"/>
                </a:solidFill>
                <a:latin typeface="Malgun Gothic"/>
              </a:defRPr>
            </a:pPr>
            <a:r>
              <a:t>2. 스케줄링 트리거: 60초마다 Job 실행</a:t>
            </a:r>
          </a:p>
        </p:txBody>
      </p:sp>
      <p:sp>
        <p:nvSpPr>
          <p:cNvPr id="5" name="Chevron 4"/>
          <p:cNvSpPr/>
          <p:nvPr/>
        </p:nvSpPr>
        <p:spPr>
          <a:xfrm>
            <a:off x="914400" y="3200400"/>
            <a:ext cx="7315200" cy="731520"/>
          </a:xfrm>
          <a:prstGeom prst="chevron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1800">
                <a:solidFill>
                  <a:srgbClr val="C0CAF5"/>
                </a:solidFill>
                <a:latin typeface="Malgun Gothic"/>
              </a:defRPr>
            </a:pPr>
            <a:r>
              <a:t>3. 데이터 수집: IMAP 서버 접속 및 안 읽은 메일 확인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4114800"/>
            <a:ext cx="7315200" cy="731520"/>
          </a:xfrm>
          <a:prstGeom prst="chevron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1800">
                <a:solidFill>
                  <a:srgbClr val="C0CAF5"/>
                </a:solidFill>
                <a:latin typeface="Malgun Gothic"/>
              </a:defRPr>
            </a:pPr>
            <a:r>
              <a:t>4. 필터링 적용: 날짜 -&gt; 발신자 -&gt; 키워드 검사</a:t>
            </a:r>
          </a:p>
        </p:txBody>
      </p:sp>
      <p:sp>
        <p:nvSpPr>
          <p:cNvPr id="7" name="Chevron 6"/>
          <p:cNvSpPr/>
          <p:nvPr/>
        </p:nvSpPr>
        <p:spPr>
          <a:xfrm>
            <a:off x="914400" y="5029200"/>
            <a:ext cx="7315200" cy="731520"/>
          </a:xfrm>
          <a:prstGeom prst="chevron">
            <a:avLst/>
          </a:prstGeom>
          <a:solidFill>
            <a:srgbClr val="24283B"/>
          </a:solidFill>
          <a:ln w="19050">
            <a:solidFill>
              <a:srgbClr val="9EC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1800">
                <a:solidFill>
                  <a:srgbClr val="C0CAF5"/>
                </a:solidFill>
                <a:latin typeface="Malgun Gothic"/>
              </a:defRPr>
            </a:pPr>
            <a:r>
              <a:t>5. 알림 발송: 조건 일치 시 텔레그램 메시지 전송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